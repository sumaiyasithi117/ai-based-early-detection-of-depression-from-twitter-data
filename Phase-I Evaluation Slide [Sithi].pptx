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9" r:id="rId1"/>
  </p:sldMasterIdLst>
  <p:notesMasterIdLst>
    <p:notesMasterId r:id="rId13"/>
  </p:notesMasterIdLst>
  <p:sldIdLst>
    <p:sldId id="256" r:id="rId2"/>
    <p:sldId id="264" r:id="rId3"/>
    <p:sldId id="280" r:id="rId4"/>
    <p:sldId id="303" r:id="rId5"/>
    <p:sldId id="302" r:id="rId6"/>
    <p:sldId id="299" r:id="rId7"/>
    <p:sldId id="300" r:id="rId8"/>
    <p:sldId id="301" r:id="rId9"/>
    <p:sldId id="298" r:id="rId10"/>
    <p:sldId id="304" r:id="rId11"/>
    <p:sldId id="295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B981EB-22C0-44E2-8B6E-9AA82B8314FC}" v="12" dt="2026-04-17T21:17:37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6" autoAdjust="0"/>
    <p:restoredTop sz="96168" autoAdjust="0"/>
  </p:normalViewPr>
  <p:slideViewPr>
    <p:cSldViewPr>
      <p:cViewPr varScale="1">
        <p:scale>
          <a:sx n="82" d="100"/>
          <a:sy n="82" d="100"/>
        </p:scale>
        <p:origin x="677" y="7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aiya Sithi" userId="a189cd9a3182b425" providerId="LiveId" clId="{EEB359C5-A92B-4EAC-BEA0-7756189E44E8}"/>
    <pc:docChg chg="undo custSel modSld">
      <pc:chgData name="Sumaiya Sithi" userId="a189cd9a3182b425" providerId="LiveId" clId="{EEB359C5-A92B-4EAC-BEA0-7756189E44E8}" dt="2026-04-17T21:19:03.605" v="43" actId="1076"/>
      <pc:docMkLst>
        <pc:docMk/>
      </pc:docMkLst>
      <pc:sldChg chg="delSp mod">
        <pc:chgData name="Sumaiya Sithi" userId="a189cd9a3182b425" providerId="LiveId" clId="{EEB359C5-A92B-4EAC-BEA0-7756189E44E8}" dt="2026-04-17T21:10:32.773" v="0" actId="478"/>
        <pc:sldMkLst>
          <pc:docMk/>
          <pc:sldMk cId="2459516608" sldId="295"/>
        </pc:sldMkLst>
        <pc:spChg chg="del">
          <ac:chgData name="Sumaiya Sithi" userId="a189cd9a3182b425" providerId="LiveId" clId="{EEB359C5-A92B-4EAC-BEA0-7756189E44E8}" dt="2026-04-17T21:10:32.773" v="0" actId="478"/>
          <ac:spMkLst>
            <pc:docMk/>
            <pc:sldMk cId="2459516608" sldId="295"/>
            <ac:spMk id="2" creationId="{00000000-0000-0000-0000-000000000000}"/>
          </ac:spMkLst>
        </pc:spChg>
      </pc:sldChg>
      <pc:sldChg chg="addSp delSp modSp mod">
        <pc:chgData name="Sumaiya Sithi" userId="a189cd9a3182b425" providerId="LiveId" clId="{EEB359C5-A92B-4EAC-BEA0-7756189E44E8}" dt="2026-04-17T21:19:03.605" v="43" actId="1076"/>
        <pc:sldMkLst>
          <pc:docMk/>
          <pc:sldMk cId="1152814439" sldId="303"/>
        </pc:sldMkLst>
        <pc:spChg chg="add del mod">
          <ac:chgData name="Sumaiya Sithi" userId="a189cd9a3182b425" providerId="LiveId" clId="{EEB359C5-A92B-4EAC-BEA0-7756189E44E8}" dt="2026-04-17T21:19:03.605" v="43" actId="1076"/>
          <ac:spMkLst>
            <pc:docMk/>
            <pc:sldMk cId="1152814439" sldId="303"/>
            <ac:spMk id="3" creationId="{00000000-0000-0000-0000-000000000000}"/>
          </ac:spMkLst>
        </pc:spChg>
        <pc:spChg chg="add">
          <ac:chgData name="Sumaiya Sithi" userId="a189cd9a3182b425" providerId="LiveId" clId="{EEB359C5-A92B-4EAC-BEA0-7756189E44E8}" dt="2026-04-17T21:14:01.566" v="1"/>
          <ac:spMkLst>
            <pc:docMk/>
            <pc:sldMk cId="1152814439" sldId="303"/>
            <ac:spMk id="5" creationId="{DE6AD780-B9E0-D8AC-C882-252259C1CC7E}"/>
          </ac:spMkLst>
        </pc:spChg>
        <pc:spChg chg="add mod">
          <ac:chgData name="Sumaiya Sithi" userId="a189cd9a3182b425" providerId="LiveId" clId="{EEB359C5-A92B-4EAC-BEA0-7756189E44E8}" dt="2026-04-17T21:14:13.515" v="4"/>
          <ac:spMkLst>
            <pc:docMk/>
            <pc:sldMk cId="1152814439" sldId="303"/>
            <ac:spMk id="6" creationId="{160E831D-BB99-8822-5FE4-5D72439A229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356351"/>
            <a:ext cx="153881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6356351"/>
            <a:ext cx="9842500" cy="465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Phase-I Evaluation</a:t>
            </a:r>
            <a:endParaRPr lang="en-US" b="1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Phase-I Evaluation</a:t>
            </a:r>
            <a:endParaRPr lang="en-US" b="1" dirty="0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6051" y="76200"/>
            <a:ext cx="244474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3759200" y="3222625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Presented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8400" y="3962401"/>
            <a:ext cx="5181600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Final Year Defense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600" dirty="0">
                <a:solidFill>
                  <a:srgbClr val="7030A0"/>
                </a:solidFill>
              </a:rPr>
              <a:t>Title: AI-Based Early Detection of Depression from Twitter Data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133850" y="4065037"/>
            <a:ext cx="3924300" cy="1752600"/>
          </a:xfrm>
        </p:spPr>
        <p:txBody>
          <a:bodyPr rtlCol="0">
            <a:normAutofit/>
          </a:bodyPr>
          <a:lstStyle/>
          <a:p>
            <a:endParaRPr lang="en-US" sz="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+mj-lt"/>
              </a:rPr>
              <a:t>Most. Sumaiya Akter Sithi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+mj-lt"/>
              </a:rPr>
              <a:t>0242220005101915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  <a:p>
            <a:r>
              <a:rPr lang="en-US" sz="2000" dirty="0">
                <a:solidFill>
                  <a:schemeClr val="tx1"/>
                </a:solidFill>
                <a:latin typeface="+mj-lt"/>
              </a:rPr>
              <a:t>Department of CSE </a:t>
            </a:r>
          </a:p>
          <a:p>
            <a:r>
              <a:rPr lang="en-US" sz="2000" dirty="0">
                <a:solidFill>
                  <a:schemeClr val="tx1"/>
                </a:solidFill>
                <a:latin typeface="+mj-lt"/>
              </a:rPr>
              <a:t>Daffodil International University</a:t>
            </a:r>
            <a:endParaRPr lang="en-US" sz="2000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Study/Literature Review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and Motivation 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this Study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Datasets, Tools and Techniques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905000"/>
            <a:ext cx="10820400" cy="3733800"/>
          </a:xfrm>
        </p:spPr>
        <p:txBody>
          <a:bodyPr>
            <a:normAutofit/>
          </a:bodyPr>
          <a:lstStyle/>
          <a:p>
            <a:pPr marL="203200" indent="-203200">
              <a:buSzPct val="100000"/>
            </a:pP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Depression-related signals may appear in short social media posts.</a:t>
            </a:r>
            <a:endParaRPr lang="en-US" sz="2800" dirty="0"/>
          </a:p>
          <a:p>
            <a:pPr marL="203200" indent="-203200">
              <a:buSzPct val="100000"/>
            </a:pP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Twitter text offers a real-time source for non-clinical early screening.</a:t>
            </a:r>
            <a:endParaRPr lang="en-US" sz="2800" dirty="0"/>
          </a:p>
          <a:p>
            <a:pPr marL="203200" indent="-203200">
              <a:buSzPct val="100000"/>
            </a:pP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study focuses on automatic detection of depressed vs. not depressed tweets.</a:t>
            </a:r>
            <a:endParaRPr lang="en-US" sz="2800" dirty="0"/>
          </a:p>
          <a:p>
            <a:pPr marL="203200" indent="-203200">
              <a:buSzPct val="100000"/>
            </a:pP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comparative pipeline was built using machine learning and deep learning models.</a:t>
            </a:r>
            <a:endParaRPr lang="en-US" sz="2800" dirty="0"/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6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Study/Literature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23596" y="1447800"/>
            <a:ext cx="10972800" cy="3962400"/>
          </a:xfrm>
        </p:spPr>
        <p:txBody>
          <a:bodyPr>
            <a:noAutofit/>
          </a:bodyPr>
          <a:lstStyle/>
          <a:p>
            <a:pPr marL="203200" indent="-203200">
              <a:buSzPct val="100000"/>
            </a:pPr>
            <a:r>
              <a:rPr lang="en-US" sz="2700" dirty="0">
                <a:solidFill>
                  <a:srgbClr val="111111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Kim et al. (2022) showed that social media language patterns can support depression detection.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</a:pPr>
            <a:r>
              <a:rPr lang="en-US" sz="2700" dirty="0">
                <a:solidFill>
                  <a:srgbClr val="111111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Al-</a:t>
            </a:r>
            <a:r>
              <a:rPr lang="en-US" sz="2700" dirty="0" err="1">
                <a:solidFill>
                  <a:srgbClr val="111111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Garadi</a:t>
            </a:r>
            <a:r>
              <a:rPr lang="en-US" sz="2700" dirty="0">
                <a:solidFill>
                  <a:srgbClr val="111111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et al. (2023) presented a systematic review and classification framework for depression detection on social media.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</a:pPr>
            <a:r>
              <a:rPr lang="en-US" sz="2700" dirty="0">
                <a:solidFill>
                  <a:srgbClr val="111111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NAACL 2024 study highlighted that Twitter-based depression detection performance can vary across cultural settings, showing the importance of robust evaluation.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buSzPct val="100000"/>
            </a:pPr>
            <a:r>
              <a:rPr lang="en-US" sz="2700" dirty="0">
                <a:solidFill>
                  <a:srgbClr val="111111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 2025 Twitter NLP study identified depressive tweets using large-scale tweet analysis and computational models.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endParaRPr lang="en-US" sz="27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814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3A606-7A4D-49E8-FD3D-682102C96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1064-DDC2-8140-E554-385A791B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Gap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C6B71-21FD-04D6-556B-38CE32A5EA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820" y="1768475"/>
            <a:ext cx="10972800" cy="3962400"/>
          </a:xfrm>
        </p:spPr>
        <p:txBody>
          <a:bodyPr>
            <a:normAutofit/>
          </a:bodyPr>
          <a:lstStyle/>
          <a:p>
            <a:pPr marL="203200" indent="-203200">
              <a:buSzPct val="100000"/>
            </a:pP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Short tweets are noisy, ambiguous, and often lack context.</a:t>
            </a:r>
            <a:endParaRPr lang="en-US" sz="2800" dirty="0"/>
          </a:p>
          <a:p>
            <a:pPr marL="203200" indent="-203200">
              <a:buSzPct val="100000"/>
            </a:pP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Many studies use different datasets, making fair comparison difficult.</a:t>
            </a:r>
            <a:endParaRPr lang="en-US" sz="2800" dirty="0"/>
          </a:p>
          <a:p>
            <a:pPr marL="203200" indent="-203200">
              <a:buSzPct val="100000"/>
            </a:pP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Traditional models often miss contextual patterns in sentence meaning.</a:t>
            </a:r>
            <a:endParaRPr lang="en-US" sz="2800" dirty="0"/>
          </a:p>
          <a:p>
            <a:pPr marL="203200" indent="-203200">
              <a:buSzPct val="100000"/>
            </a:pP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unified comparison of Logistic Regression, SVM, Random Forest, and </a:t>
            </a:r>
            <a:r>
              <a:rPr lang="en-US" sz="2800" dirty="0" err="1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BiLSTM</a:t>
            </a: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on one Twitter dataset is needed.</a:t>
            </a:r>
            <a:endParaRPr lang="en-US" sz="2800" dirty="0"/>
          </a:p>
          <a:p>
            <a:pPr marL="0" indent="0" algn="r"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6A18D-A965-E706-08E3-07D58DEAE30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28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D7E1D-7696-3342-8575-E29B24C51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6ACC6-4944-BAC2-F177-2B401DFE2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Objective and Motivation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463C8-4F0D-351E-DE6B-3C8A65B7E0B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03200" indent="-203200">
              <a:buSzPct val="100000"/>
            </a:pP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 and prepare a labelled Twitter depression dataset.</a:t>
            </a:r>
            <a:endParaRPr lang="en-US" sz="2800" dirty="0"/>
          </a:p>
          <a:p>
            <a:pPr marL="203200" indent="-203200">
              <a:buSzPct val="100000"/>
            </a:pP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 tweet text and analyze data characteristics.</a:t>
            </a:r>
            <a:endParaRPr lang="en-US" sz="2800" dirty="0"/>
          </a:p>
          <a:p>
            <a:pPr marL="203200" indent="-203200">
              <a:buSzPct val="100000"/>
            </a:pP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and compare Logistic Regression, SVM, Random Forest, and </a:t>
            </a:r>
            <a:r>
              <a:rPr lang="en-US" sz="2800" dirty="0" err="1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BiLSTM</a:t>
            </a: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2800" dirty="0"/>
          </a:p>
          <a:p>
            <a:pPr marL="203200" indent="-203200">
              <a:buSzPct val="100000"/>
            </a:pP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 models using Accuracy, Precision, Recall, F1-score, and ROC-AUC.</a:t>
            </a:r>
            <a:endParaRPr lang="en-US" sz="2800" dirty="0"/>
          </a:p>
          <a:p>
            <a:pPr marL="203200" indent="-203200">
              <a:buSzPct val="100000"/>
            </a:pP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the best model for the next phase of the project.</a:t>
            </a:r>
            <a:endParaRPr lang="en-US" sz="2800" dirty="0"/>
          </a:p>
          <a:p>
            <a:pPr marL="0" indent="0" algn="r"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CEF74-9626-B0FA-E21C-74A5BD2BB1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547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D7963-5E83-1ED3-106C-70223D0A6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5561-8C72-6804-E4E6-A84D47F10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Novelty of this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F29DB-5137-851D-5D9C-7B22F7C5E8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03200" indent="-203200">
              <a:buSzPct val="100000"/>
            </a:pP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single end-to-end workflow was designed from preprocessing to final evaluation.</a:t>
            </a:r>
            <a:endParaRPr lang="en-US" sz="2800" dirty="0"/>
          </a:p>
          <a:p>
            <a:pPr marL="203200" indent="-203200">
              <a:buSzPct val="100000"/>
            </a:pP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classical ML and </a:t>
            </a:r>
            <a:r>
              <a:rPr lang="en-US" sz="2800" dirty="0" err="1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BiLSTM</a:t>
            </a: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were tested on the same Twitter dataset.</a:t>
            </a:r>
            <a:endParaRPr lang="en-US" sz="2800" dirty="0"/>
          </a:p>
          <a:p>
            <a:pPr marL="203200" indent="-203200">
              <a:buSzPct val="100000"/>
            </a:pP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study reports confusion matrices, ROC-AUC, and comparative performance in one framework.</a:t>
            </a:r>
            <a:endParaRPr lang="en-US" sz="2800" dirty="0"/>
          </a:p>
          <a:p>
            <a:pPr marL="203200" indent="-203200">
              <a:buSzPct val="100000"/>
            </a:pPr>
            <a:r>
              <a:rPr lang="en-US" sz="2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final model selection is based on balanced evaluation, not only accuracy.</a:t>
            </a:r>
            <a:endParaRPr lang="en-US" sz="2800" dirty="0"/>
          </a:p>
          <a:p>
            <a:pPr marL="0" indent="0" algn="r"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063EB-E6DC-C0C0-0768-E8865B8083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20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BC7AD-9C97-23E1-7CCC-1BD92A6E1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850B3-F19E-7C6E-5F6E-3BD95AE44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50838"/>
            <a:ext cx="94488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Datasets, Tools and Techniques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F2EFF-F92F-B5AA-C42F-5484AB53EBD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59BCD637-0B61-6E65-1B85-37F0329C286C}"/>
              </a:ext>
            </a:extLst>
          </p:cNvPr>
          <p:cNvSpPr/>
          <p:nvPr/>
        </p:nvSpPr>
        <p:spPr>
          <a:xfrm>
            <a:off x="2392680" y="16561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6E37A6"/>
                </a:solidFill>
              </a:rPr>
              <a:t>Dataset</a:t>
            </a:r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2379EC60-E0BD-0155-152E-BFE586FB9AEF}"/>
              </a:ext>
            </a:extLst>
          </p:cNvPr>
          <p:cNvSpPr/>
          <p:nvPr/>
        </p:nvSpPr>
        <p:spPr>
          <a:xfrm>
            <a:off x="2286000" y="1992630"/>
            <a:ext cx="338328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Kaggle Twitter depression dataset</a:t>
            </a: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20,000 labelled English posts</a:t>
            </a: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fields: post_text and label</a:t>
            </a:r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0952A53-4FC3-A3B2-4E33-418693267BED}"/>
              </a:ext>
            </a:extLst>
          </p:cNvPr>
          <p:cNvSpPr/>
          <p:nvPr/>
        </p:nvSpPr>
        <p:spPr>
          <a:xfrm>
            <a:off x="6522722" y="159868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6E37A6"/>
                </a:solidFill>
              </a:rPr>
              <a:t>Tools</a:t>
            </a:r>
            <a:endParaRPr lang="en-US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08FAB722-36A3-4879-F757-B953AE092A7F}"/>
              </a:ext>
            </a:extLst>
          </p:cNvPr>
          <p:cNvSpPr/>
          <p:nvPr/>
        </p:nvSpPr>
        <p:spPr>
          <a:xfrm>
            <a:off x="6522722" y="1873004"/>
            <a:ext cx="25603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Colab</a:t>
            </a: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</a:t>
            </a: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pandas</a:t>
            </a: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scikit-learn</a:t>
            </a: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TensorFlow / Keras</a:t>
            </a:r>
            <a:endParaRPr lang="en-US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971F9D04-19BC-F54B-CA54-56C04C481846}"/>
              </a:ext>
            </a:extLst>
          </p:cNvPr>
          <p:cNvSpPr/>
          <p:nvPr/>
        </p:nvSpPr>
        <p:spPr>
          <a:xfrm>
            <a:off x="2392680" y="3622727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6E37A6"/>
                </a:solidFill>
              </a:rPr>
              <a:t>Techniques</a:t>
            </a:r>
            <a:endParaRPr lang="en-US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2552E3ED-9B80-18CB-E8E6-28CB682347BD}"/>
              </a:ext>
            </a:extLst>
          </p:cNvPr>
          <p:cNvSpPr/>
          <p:nvPr/>
        </p:nvSpPr>
        <p:spPr>
          <a:xfrm>
            <a:off x="2259563" y="3912131"/>
            <a:ext cx="3200400" cy="11304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Text cleaning</a:t>
            </a: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TF-IDF vectorization</a:t>
            </a: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Tokenization and padding</a:t>
            </a: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metrics and ROC analysis</a:t>
            </a:r>
            <a:endParaRPr lang="en-US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282DB1CC-774B-0E9B-0CE4-A2793ADA0718}"/>
              </a:ext>
            </a:extLst>
          </p:cNvPr>
          <p:cNvSpPr/>
          <p:nvPr/>
        </p:nvSpPr>
        <p:spPr>
          <a:xfrm>
            <a:off x="6522722" y="36240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6E37A6"/>
                </a:solidFill>
              </a:rPr>
              <a:t>Core Models</a:t>
            </a:r>
            <a:endParaRPr lang="en-US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03EB0EF2-CC00-5291-1A3F-A16391DB2863}"/>
              </a:ext>
            </a:extLst>
          </p:cNvPr>
          <p:cNvSpPr/>
          <p:nvPr/>
        </p:nvSpPr>
        <p:spPr>
          <a:xfrm>
            <a:off x="6522722" y="3898408"/>
            <a:ext cx="25603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Logistic Regression</a:t>
            </a: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SVM</a:t>
            </a: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</a:t>
            </a:r>
            <a:endParaRPr lang="en-US" dirty="0"/>
          </a:p>
          <a:p>
            <a:pPr marL="203200" indent="-203200"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BiLSTM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450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C423E-7F8D-0DF0-FEA1-1B25B89AC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29A4-43BD-CC77-7F19-34228C3DF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Proposed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53EBF-97A8-D64D-9C7B-B1394F03F2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52B82B21-94F8-EA13-81A3-3ABA771FA57C}"/>
              </a:ext>
            </a:extLst>
          </p:cNvPr>
          <p:cNvSpPr/>
          <p:nvPr/>
        </p:nvSpPr>
        <p:spPr>
          <a:xfrm>
            <a:off x="2141220" y="256032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>
            <a:solidFill>
              <a:srgbClr val="4F81BD"/>
            </a:solidFill>
          </a:ln>
        </p:spPr>
        <p:txBody>
          <a:bodyPr wrap="square" lIns="635" tIns="635" rIns="635" bIns="635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Dataset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Collection</a:t>
            </a:r>
            <a:endParaRPr lang="en-US" sz="14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AE66AEA-CA50-C489-89AE-042E2E532B1B}"/>
              </a:ext>
            </a:extLst>
          </p:cNvPr>
          <p:cNvSpPr/>
          <p:nvPr/>
        </p:nvSpPr>
        <p:spPr>
          <a:xfrm>
            <a:off x="3512820" y="276148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6E37A6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77FF1FAF-0B1C-A9B5-B1B8-CA7C4608246E}"/>
              </a:ext>
            </a:extLst>
          </p:cNvPr>
          <p:cNvSpPr/>
          <p:nvPr/>
        </p:nvSpPr>
        <p:spPr>
          <a:xfrm>
            <a:off x="3787140" y="256032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>
            <a:solidFill>
              <a:srgbClr val="4F81BD"/>
            </a:solidFill>
          </a:ln>
        </p:spPr>
        <p:txBody>
          <a:bodyPr wrap="square" lIns="635" tIns="635" rIns="635" bIns="635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Text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Preprocessing</a:t>
            </a:r>
            <a:endParaRPr lang="en-US" sz="14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88B97D8D-E541-498F-2C60-06CB3A4F6FF1}"/>
              </a:ext>
            </a:extLst>
          </p:cNvPr>
          <p:cNvSpPr/>
          <p:nvPr/>
        </p:nvSpPr>
        <p:spPr>
          <a:xfrm>
            <a:off x="5158740" y="276148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6E37A6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347D4056-24E6-C124-774D-4ECF914274E3}"/>
              </a:ext>
            </a:extLst>
          </p:cNvPr>
          <p:cNvSpPr/>
          <p:nvPr/>
        </p:nvSpPr>
        <p:spPr>
          <a:xfrm>
            <a:off x="5433060" y="256032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>
            <a:solidFill>
              <a:srgbClr val="4F81BD"/>
            </a:solidFill>
          </a:ln>
        </p:spPr>
        <p:txBody>
          <a:bodyPr wrap="square" lIns="635" tIns="635" rIns="635" bIns="635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EDA and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Feature Prep</a:t>
            </a:r>
            <a:endParaRPr lang="en-US" sz="14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CF19844A-E239-62A2-943B-B846D59C73D1}"/>
              </a:ext>
            </a:extLst>
          </p:cNvPr>
          <p:cNvSpPr/>
          <p:nvPr/>
        </p:nvSpPr>
        <p:spPr>
          <a:xfrm>
            <a:off x="6804660" y="276148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6E37A6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4136A369-7C65-8B95-FD2D-B85E5CB8C947}"/>
              </a:ext>
            </a:extLst>
          </p:cNvPr>
          <p:cNvSpPr/>
          <p:nvPr/>
        </p:nvSpPr>
        <p:spPr>
          <a:xfrm>
            <a:off x="7078980" y="256032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>
            <a:solidFill>
              <a:srgbClr val="4F81BD"/>
            </a:solidFill>
          </a:ln>
        </p:spPr>
        <p:txBody>
          <a:bodyPr wrap="square" lIns="635" tIns="635" rIns="635" bIns="635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Training</a:t>
            </a:r>
            <a:endParaRPr lang="en-US" sz="14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3B3F6C9-5453-CF2E-06CB-F041864C3161}"/>
              </a:ext>
            </a:extLst>
          </p:cNvPr>
          <p:cNvSpPr/>
          <p:nvPr/>
        </p:nvSpPr>
        <p:spPr>
          <a:xfrm>
            <a:off x="8450580" y="2761488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6E37A6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032CA14-B6F3-55D6-64E1-5DABAD8816AA}"/>
              </a:ext>
            </a:extLst>
          </p:cNvPr>
          <p:cNvSpPr/>
          <p:nvPr/>
        </p:nvSpPr>
        <p:spPr>
          <a:xfrm>
            <a:off x="8724900" y="256032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>
            <a:solidFill>
              <a:srgbClr val="4F81BD"/>
            </a:solidFill>
          </a:ln>
        </p:spPr>
        <p:txBody>
          <a:bodyPr wrap="square" lIns="635" tIns="635" rIns="635" bIns="635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Evaluation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</a:rPr>
              <a:t>and Selection</a:t>
            </a:r>
            <a:endParaRPr lang="en-US" sz="14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DEAAD454-DD97-E52A-6470-8F136FDE94AF}"/>
              </a:ext>
            </a:extLst>
          </p:cNvPr>
          <p:cNvSpPr/>
          <p:nvPr/>
        </p:nvSpPr>
        <p:spPr>
          <a:xfrm>
            <a:off x="3051810" y="3933322"/>
            <a:ext cx="6088380" cy="48133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i="1" dirty="0">
                <a:solidFill>
                  <a:srgbClr val="666666"/>
                </a:solidFill>
              </a:rPr>
              <a:t>Dataset → Cleaning → TF-IDF / Tokenization → ML &amp; BiLSTM → Metrics</a:t>
            </a:r>
            <a:endParaRPr 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1206655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C423E-7F8D-0DF0-FEA1-1B25B89AC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29A4-43BD-CC77-7F19-34228C3DF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Expected Outcomes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53EBF-97A8-D64D-9C7B-B1394F03F2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BBF5D424-E2E0-6054-D923-949C3824FBB0}"/>
              </a:ext>
            </a:extLst>
          </p:cNvPr>
          <p:cNvSpPr/>
          <p:nvPr/>
        </p:nvSpPr>
        <p:spPr>
          <a:xfrm>
            <a:off x="2493264" y="21717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i="1" dirty="0">
                <a:solidFill>
                  <a:srgbClr val="666666"/>
                </a:solidFill>
              </a:rPr>
              <a:t>Phase-I preliminary results</a:t>
            </a:r>
            <a:endParaRPr lang="en-US" sz="16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3CBFDEDD-8BEC-E547-ECCB-301116AE52A9}"/>
              </a:ext>
            </a:extLst>
          </p:cNvPr>
          <p:cNvSpPr/>
          <p:nvPr/>
        </p:nvSpPr>
        <p:spPr>
          <a:xfrm>
            <a:off x="2566416" y="2583180"/>
            <a:ext cx="2331720" cy="347472"/>
          </a:xfrm>
          <a:prstGeom prst="rect">
            <a:avLst/>
          </a:prstGeom>
          <a:solidFill>
            <a:srgbClr val="F3F6FB"/>
          </a:solidFill>
          <a:ln>
            <a:solidFill>
              <a:srgbClr val="999999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Logistic Regression</a:t>
            </a:r>
            <a:endParaRPr lang="en-US" sz="16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9C3E185B-C2B4-6A3D-AA66-5193B5182987}"/>
              </a:ext>
            </a:extLst>
          </p:cNvPr>
          <p:cNvSpPr/>
          <p:nvPr/>
        </p:nvSpPr>
        <p:spPr>
          <a:xfrm>
            <a:off x="4943856" y="2583180"/>
            <a:ext cx="914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999999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Acc: 0.761</a:t>
            </a:r>
            <a:endParaRPr lang="en-US" sz="16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3EDA99B2-2423-0CA7-73B2-C5933D77D5AA}"/>
              </a:ext>
            </a:extLst>
          </p:cNvPr>
          <p:cNvSpPr/>
          <p:nvPr/>
        </p:nvSpPr>
        <p:spPr>
          <a:xfrm>
            <a:off x="5903976" y="2583180"/>
            <a:ext cx="8686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999999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F1: 0.768</a:t>
            </a:r>
            <a:endParaRPr lang="en-US" sz="16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36A7A3F0-0251-F600-6C1F-99B48CE1FFFD}"/>
              </a:ext>
            </a:extLst>
          </p:cNvPr>
          <p:cNvSpPr/>
          <p:nvPr/>
        </p:nvSpPr>
        <p:spPr>
          <a:xfrm>
            <a:off x="2566416" y="3012948"/>
            <a:ext cx="2331720" cy="347472"/>
          </a:xfrm>
          <a:prstGeom prst="rect">
            <a:avLst/>
          </a:prstGeom>
          <a:solidFill>
            <a:srgbClr val="F3F6FB"/>
          </a:solidFill>
          <a:ln>
            <a:solidFill>
              <a:srgbClr val="999999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SVM</a:t>
            </a:r>
            <a:endParaRPr lang="en-US" sz="16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60F7546-A10D-344E-A659-614E46C45D7C}"/>
              </a:ext>
            </a:extLst>
          </p:cNvPr>
          <p:cNvSpPr/>
          <p:nvPr/>
        </p:nvSpPr>
        <p:spPr>
          <a:xfrm>
            <a:off x="4943856" y="3012948"/>
            <a:ext cx="914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999999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Acc: 0.760</a:t>
            </a:r>
            <a:endParaRPr lang="en-US" sz="16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BDC3D3E2-88E2-B2F2-CD99-E3652802C98B}"/>
              </a:ext>
            </a:extLst>
          </p:cNvPr>
          <p:cNvSpPr/>
          <p:nvPr/>
        </p:nvSpPr>
        <p:spPr>
          <a:xfrm>
            <a:off x="5903976" y="3012948"/>
            <a:ext cx="8686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999999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F1: 0.762</a:t>
            </a:r>
            <a:endParaRPr lang="en-US" sz="16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CD29F826-FFAE-AE8D-2F7F-262668A96E61}"/>
              </a:ext>
            </a:extLst>
          </p:cNvPr>
          <p:cNvSpPr/>
          <p:nvPr/>
        </p:nvSpPr>
        <p:spPr>
          <a:xfrm>
            <a:off x="2566416" y="3442716"/>
            <a:ext cx="2331720" cy="347472"/>
          </a:xfrm>
          <a:prstGeom prst="rect">
            <a:avLst/>
          </a:prstGeom>
          <a:solidFill>
            <a:srgbClr val="F3F6FB"/>
          </a:solidFill>
          <a:ln>
            <a:solidFill>
              <a:srgbClr val="999999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Random Forest</a:t>
            </a:r>
            <a:endParaRPr lang="en-US" sz="16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BA0DC70-07C6-B78B-FDD8-2FCF854522C9}"/>
              </a:ext>
            </a:extLst>
          </p:cNvPr>
          <p:cNvSpPr/>
          <p:nvPr/>
        </p:nvSpPr>
        <p:spPr>
          <a:xfrm>
            <a:off x="4943856" y="3442716"/>
            <a:ext cx="914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999999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Acc: 0.737</a:t>
            </a:r>
            <a:endParaRPr lang="en-US" sz="16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6579D1F9-AD1A-034B-6D25-43A4DFA8F59C}"/>
              </a:ext>
            </a:extLst>
          </p:cNvPr>
          <p:cNvSpPr/>
          <p:nvPr/>
        </p:nvSpPr>
        <p:spPr>
          <a:xfrm>
            <a:off x="5903976" y="3442716"/>
            <a:ext cx="8686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999999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F1: 0.754</a:t>
            </a:r>
            <a:endParaRPr lang="en-US" sz="16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F992F55E-E16D-6292-FE51-FA87A97A2B10}"/>
              </a:ext>
            </a:extLst>
          </p:cNvPr>
          <p:cNvSpPr/>
          <p:nvPr/>
        </p:nvSpPr>
        <p:spPr>
          <a:xfrm>
            <a:off x="2566416" y="3872484"/>
            <a:ext cx="2331720" cy="347472"/>
          </a:xfrm>
          <a:prstGeom prst="rect">
            <a:avLst/>
          </a:prstGeom>
          <a:solidFill>
            <a:srgbClr val="D9EAD3"/>
          </a:solidFill>
          <a:ln>
            <a:solidFill>
              <a:srgbClr val="999999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</a:rPr>
              <a:t>BiLSTM</a:t>
            </a:r>
            <a:endParaRPr lang="en-US" sz="16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93F8BEB1-7731-32F4-9854-B09F9CF96880}"/>
              </a:ext>
            </a:extLst>
          </p:cNvPr>
          <p:cNvSpPr/>
          <p:nvPr/>
        </p:nvSpPr>
        <p:spPr>
          <a:xfrm>
            <a:off x="4943856" y="3872484"/>
            <a:ext cx="914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999999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Acc: 0.776</a:t>
            </a:r>
            <a:endParaRPr lang="en-US" sz="16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F70F809C-3E12-2C7C-316D-3DEF9855FFB7}"/>
              </a:ext>
            </a:extLst>
          </p:cNvPr>
          <p:cNvSpPr/>
          <p:nvPr/>
        </p:nvSpPr>
        <p:spPr>
          <a:xfrm>
            <a:off x="5903976" y="3872484"/>
            <a:ext cx="8686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999999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F1: 0.778</a:t>
            </a:r>
            <a:endParaRPr lang="en-US" sz="16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ADE87D96-5C8F-AE45-1569-12091F882F13}"/>
              </a:ext>
            </a:extLst>
          </p:cNvPr>
          <p:cNvSpPr/>
          <p:nvPr/>
        </p:nvSpPr>
        <p:spPr>
          <a:xfrm>
            <a:off x="7010400" y="2436876"/>
            <a:ext cx="274320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BiLSTM achieved the best overall Phase-I performance.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scores: Accuracy 0.776, F1-score 0.778, ROC-AUC 0.865.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phase: finalize report and prepare defense presentation.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79742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516608"/>
      </p:ext>
    </p:extLst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Microsoft PowerPoint Presentation</Template>
  <TotalTime>873</TotalTime>
  <Words>516</Words>
  <Application>Microsoft Office PowerPoint</Application>
  <PresentationFormat>Widescreen</PresentationFormat>
  <Paragraphs>108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New Microsoft PowerPoint Presentation</vt:lpstr>
      <vt:lpstr>Title: AI-Based Early Detection of Depression from Twitter Data</vt:lpstr>
      <vt:lpstr>Outline</vt:lpstr>
      <vt:lpstr>Introduction</vt:lpstr>
      <vt:lpstr>Background Study/Literature Review</vt:lpstr>
      <vt:lpstr>Gap Analysis</vt:lpstr>
      <vt:lpstr>Objective and Motivation </vt:lpstr>
      <vt:lpstr>Novelty of this Study</vt:lpstr>
      <vt:lpstr>Datasets, Tools and Techniques</vt:lpstr>
      <vt:lpstr>Proposed Methodology</vt:lpstr>
      <vt:lpstr>Expected Outcomes 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Sumaiya Sithi</cp:lastModifiedBy>
  <cp:revision>254</cp:revision>
  <dcterms:created xsi:type="dcterms:W3CDTF">2011-07-17T02:56:35Z</dcterms:created>
  <dcterms:modified xsi:type="dcterms:W3CDTF">2026-04-17T21:19:09Z</dcterms:modified>
</cp:coreProperties>
</file>